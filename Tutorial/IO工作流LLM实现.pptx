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322" r:id="rId3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3812" userDrawn="1">
          <p15:clr>
            <a:srgbClr val="A4A3A4"/>
          </p15:clr>
        </p15:guide>
        <p15:guide id="3" orient="horz" pos="9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F87"/>
    <a:srgbClr val="2078B3"/>
    <a:srgbClr val="8DBBD8"/>
    <a:srgbClr val="2D9B2E"/>
    <a:srgbClr val="FEA552"/>
    <a:srgbClr val="61A1C8"/>
    <a:srgbClr val="418CFF"/>
    <a:srgbClr val="3374FF"/>
    <a:srgbClr val="418CFA"/>
    <a:srgbClr val="346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74" autoAdjust="0"/>
    <p:restoredTop sz="95938"/>
  </p:normalViewPr>
  <p:slideViewPr>
    <p:cSldViewPr snapToGrid="0" showGuides="1">
      <p:cViewPr>
        <p:scale>
          <a:sx n="97" d="100"/>
          <a:sy n="97" d="100"/>
        </p:scale>
        <p:origin x="144" y="568"/>
      </p:cViewPr>
      <p:guideLst>
        <p:guide orient="horz" pos="2201"/>
        <p:guide pos="3812"/>
        <p:guide orient="horz" pos="9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2864" y="2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FD0B1-28D5-5744-B7D9-3EE2BF37B5E2}" type="datetime1">
              <a:rPr kumimoji="1" lang="zh-CN" altLang="en-US" smtClean="0"/>
              <a:t>2026/1/22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CA87E-4268-E649-8EB8-C7612CBD40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AB89F-CA44-B446-9D20-2D319E06619E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3E1EF-8E9E-4A7E-99FC-1EB92E40FCF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即对数据施加不同程度的高斯噪声。高斯噪声是一种随机的、正态分布的扰动，其作用是在原始数据的基础上增加一些随机性。通过这样做，数据分布变得更加“平滑”，而不是集中在低维流形上。这种平滑化的效果使得梯度的估计变得更加可行和准确。</a:t>
            </a:r>
          </a:p>
          <a:p>
            <a:r>
              <a:rPr lang="zh-CN" altLang="en-US" dirty="0"/>
              <a:t>接下来，模型共同估计了在所有噪声水平下扰动数据分布的梯度向量场。所谓的“向量场”，在这里指的是在数据空间的每一点上，都有一个向量表示该点的梯度。这个过程涉及到计算在不同噪声水平下，数据点如何在其分布中移动的方向和程度。</a:t>
            </a:r>
          </a:p>
          <a:p>
            <a:r>
              <a:rPr lang="zh-CN" altLang="en-US" dirty="0"/>
              <a:t>通过这种方法，模型能够在不同的噪声水平上理解数据的分布，并使用这些信息来指导样本的生成过程。这种多水平噪声的处理方式，不仅提高了梯度估计的质量，而且还允许模型更加有效地探索和理解复杂的数据分布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93E1EF-8E9E-4A7E-99FC-1EB92E40FCF8}" type="slidenum">
              <a:rPr lang="zh-CN" altLang="en-US" smtClean="0"/>
              <a:t>0</a:t>
            </a:fld>
            <a:endParaRPr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41A51E-23A4-D0BB-4C5E-34AAE1BC174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A10A4C3-76BE-C04E-92D8-92C0778B54A0}" type="datetime1">
              <a:rPr lang="zh-CN" altLang="en-US" smtClean="0"/>
              <a:t>2026/1/22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93E1EF-8E9E-4A7E-99FC-1EB92E40FCF8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B14E71-CFD9-5510-2CAA-D783629B20B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E42ED3-76D3-8842-B6DE-84976868DE7C}" type="datetime1">
              <a:rPr lang="zh-CN" altLang="en-US" smtClean="0"/>
              <a:t>2026/1/22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901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8602" y="2001119"/>
            <a:ext cx="10039398" cy="1847186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框 7"/>
          <p:cNvSpPr txBox="1"/>
          <p:nvPr userDrawn="1"/>
        </p:nvSpPr>
        <p:spPr>
          <a:xfrm>
            <a:off x="590116" y="5015622"/>
            <a:ext cx="1821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alpha val="50000"/>
                  </a:schemeClr>
                </a:solidFill>
                <a:latin typeface="Arial" panose="020B0604020202020204"/>
                <a:cs typeface="Arial" panose="020B0604020202020204"/>
              </a:rPr>
              <a:t>sigs.tsinghua.edu.cn</a:t>
            </a:r>
            <a:endParaRPr kumimoji="1" lang="zh-CN" altLang="en-US" dirty="0">
              <a:solidFill>
                <a:schemeClr val="bg1">
                  <a:alpha val="5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4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6659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1057" y="2144101"/>
            <a:ext cx="8280989" cy="1320068"/>
          </a:xfrm>
        </p:spPr>
        <p:txBody>
          <a:bodyPr anchor="t">
            <a:normAutofit/>
          </a:bodyPr>
          <a:lstStyle>
            <a:lvl1pPr algn="l"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5380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677917" y="2144101"/>
            <a:ext cx="8464129" cy="1320068"/>
          </a:xfrm>
        </p:spPr>
        <p:txBody>
          <a:bodyPr anchor="t">
            <a:normAutofit/>
          </a:bodyPr>
          <a:lstStyle>
            <a:lvl1pPr algn="l"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53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3038" y="2360322"/>
            <a:ext cx="8801100" cy="3635744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194"/>
          </a:xfrm>
          <a:prstGeom prst="rect">
            <a:avLst/>
          </a:prstGeom>
        </p:spPr>
      </p:pic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24E5ED9D-9BFC-C028-4455-FC44A449B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4AA24C-F5C3-469E-B0D1-20A502767E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6100" y="1468718"/>
            <a:ext cx="11010900" cy="46783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灯片编号占位符 8">
            <a:extLst>
              <a:ext uri="{FF2B5EF4-FFF2-40B4-BE49-F238E27FC236}">
                <a16:creationId xmlns:a16="http://schemas.microsoft.com/office/drawing/2014/main" id="{37C309CC-5D1C-8A9E-4DB0-7F061ACAF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138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64AA24C-F5C3-469E-B0D1-20A502767EB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版-11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546100" y="1477336"/>
            <a:ext cx="11277600" cy="500380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3" name="灯片编号占位符 8">
            <a:extLst>
              <a:ext uri="{FF2B5EF4-FFF2-40B4-BE49-F238E27FC236}">
                <a16:creationId xmlns:a16="http://schemas.microsoft.com/office/drawing/2014/main" id="{14CEE041-7294-8006-4D85-D389A6C71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4AA24C-F5C3-469E-B0D1-20A502767E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4AA24C-F5C3-469E-B0D1-20A502767E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4AA24C-F5C3-469E-B0D1-20A502767E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4AA24C-F5C3-469E-B0D1-20A502767E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4AA24C-F5C3-469E-B0D1-20A502767E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4AA24C-F5C3-469E-B0D1-20A502767E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4AA24C-F5C3-469E-B0D1-20A502767E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4AA24C-F5C3-469E-B0D1-20A502767E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4AA24C-F5C3-469E-B0D1-20A502767E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4AA24C-F5C3-469E-B0D1-20A502767E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75"/>
          <a:stretch/>
        </p:blipFill>
        <p:spPr>
          <a:xfrm>
            <a:off x="35560" y="0"/>
            <a:ext cx="12156440" cy="6018415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72510" y="488730"/>
            <a:ext cx="8574690" cy="7058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6100" y="1498600"/>
            <a:ext cx="11010900" cy="4678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灯片编号占位符 8">
            <a:extLst>
              <a:ext uri="{FF2B5EF4-FFF2-40B4-BE49-F238E27FC236}">
                <a16:creationId xmlns:a16="http://schemas.microsoft.com/office/drawing/2014/main" id="{44307C3E-8ED0-4B48-8EBC-A8C5502C93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4AA24C-F5C3-469E-B0D1-20A502767E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/>
          <a:ea typeface="微软雅黑" panose="020B0503020204020204" charset="-122"/>
          <a:cs typeface="Arial" panose="020B0604020202020204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  <a:cs typeface="Arial" panose="020B0604020202020204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/>
          <a:ea typeface="微软雅黑" panose="020B0503020204020204" charset="-122"/>
          <a:cs typeface="Arial" panose="020B0604020202020204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/>
          <a:ea typeface="微软雅黑" panose="020B0503020204020204" charset="-122"/>
          <a:cs typeface="Arial" panose="020B0604020202020204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/>
          <a:ea typeface="微软雅黑" panose="020B0503020204020204" charset="-122"/>
          <a:cs typeface="Arial" panose="020B0604020202020204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/>
          <a:ea typeface="微软雅黑" panose="020B0503020204020204" charset="-122"/>
          <a:cs typeface="Arial" panose="020B060402020202020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hyperlink" Target="mailto:jasonxie@sz.tsinghua.edu.c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849319" y="1906526"/>
            <a:ext cx="10039398" cy="1847186"/>
          </a:xfrm>
        </p:spPr>
        <p:txBody>
          <a:bodyPr>
            <a:normAutofit/>
          </a:bodyPr>
          <a:lstStyle/>
          <a:p>
            <a:r>
              <a:rPr kumimoji="1" lang="en-US" altLang="zh-CN" dirty="0" err="1">
                <a:solidFill>
                  <a:schemeClr val="tx1"/>
                </a:solidFill>
                <a:latin typeface="Gill Sans MT" panose="020B0502020104020203" charset="0"/>
                <a:cs typeface="Gill Sans MT" panose="020B0502020104020203" charset="0"/>
              </a:rPr>
              <a:t>InterOptimus</a:t>
            </a:r>
            <a:r>
              <a:rPr kumimoji="1" lang="zh-CN" altLang="en-US" dirty="0">
                <a:solidFill>
                  <a:schemeClr val="tx1"/>
                </a:solidFill>
                <a:latin typeface="Gill Sans MT" panose="020B0502020104020203" charset="0"/>
                <a:cs typeface="Gill Sans MT" panose="020B0502020104020203" charset="0"/>
              </a:rPr>
              <a:t>工作流</a:t>
            </a:r>
            <a:r>
              <a:rPr kumimoji="1" lang="en-US" altLang="zh-CN" dirty="0">
                <a:solidFill>
                  <a:schemeClr val="tx1"/>
                </a:solidFill>
                <a:latin typeface="Gill Sans MT" panose="020B0502020104020203" charset="0"/>
                <a:cs typeface="Gill Sans MT" panose="020B0502020104020203" charset="0"/>
              </a:rPr>
              <a:t>LLM</a:t>
            </a:r>
            <a:r>
              <a:rPr kumimoji="1" lang="zh-CN" altLang="en-US" dirty="0">
                <a:solidFill>
                  <a:schemeClr val="tx1"/>
                </a:solidFill>
                <a:latin typeface="Gill Sans MT" panose="020B0502020104020203" charset="0"/>
                <a:cs typeface="Gill Sans MT" panose="020B0502020104020203" charset="0"/>
              </a:rPr>
              <a:t>定义实现</a:t>
            </a:r>
            <a:endParaRPr kumimoji="1" lang="en-US" altLang="zh-CN" dirty="0">
              <a:solidFill>
                <a:schemeClr val="tx1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69733" y="3946376"/>
            <a:ext cx="53399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Dr. </a:t>
            </a:r>
            <a:r>
              <a:rPr kumimoji="1" lang="en-US" altLang="zh-CN" dirty="0" err="1"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Xie</a:t>
            </a:r>
            <a:r>
              <a:rPr kumimoji="1" lang="en-US" altLang="zh-CN" dirty="0"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</a:t>
            </a:r>
            <a:r>
              <a:rPr kumimoji="1" lang="en-US" altLang="zh-CN" dirty="0" err="1"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Yaoshu</a:t>
            </a:r>
            <a:endParaRPr kumimoji="1" lang="en-US" altLang="zh-CN" dirty="0"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r>
              <a:rPr kumimoji="1" lang="en-US" altLang="zh-CN" dirty="0"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Tsinghua Shenzhen International Graduate School</a:t>
            </a:r>
          </a:p>
          <a:p>
            <a:r>
              <a:rPr kumimoji="1" lang="en-CN" altLang="zh-CN" dirty="0">
                <a:latin typeface="Arial" panose="020B0604020202020204"/>
                <a:ea typeface="微软雅黑" panose="020B0503020204020204" charset="-122"/>
                <a:cs typeface="Arial" panose="020B0604020202020204"/>
                <a:hlinkClick r:id="rId4"/>
              </a:rPr>
              <a:t>jasonxie@sz.tsinghua.edu.cn</a:t>
            </a:r>
            <a:endParaRPr kumimoji="1" lang="en-CN" altLang="zh-CN" dirty="0"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r>
              <a:rPr kumimoji="1" lang="en-US" altLang="zh-CN" dirty="0"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2026.01.22</a:t>
            </a:r>
            <a:endParaRPr kumimoji="1" lang="zh-CN" altLang="en-US" dirty="0"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kumimoji="1" lang="zh-CN" altLang="en-US" dirty="0"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dirty="0"/>
              <a:t>IO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workflow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6378AEF-D78E-3559-0C5E-DDA2AEFF9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4AA24C-F5C3-469E-B0D1-20A502767EB5}" type="slidenum">
              <a:rPr lang="zh-CN" altLang="en-US" smtClean="0"/>
              <a:t>1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780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U3YTllZmMwYTM1ZTg5YTBlYzg3MTRiYmU3NjA4ZD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6655</TotalTime>
  <Words>243</Words>
  <Application>Microsoft Macintosh PowerPoint</Application>
  <PresentationFormat>宽屏</PresentationFormat>
  <Paragraphs>14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DengXian</vt:lpstr>
      <vt:lpstr>Arial</vt:lpstr>
      <vt:lpstr>Calibri</vt:lpstr>
      <vt:lpstr>Gill Sans MT</vt:lpstr>
      <vt:lpstr>Office 主题</vt:lpstr>
      <vt:lpstr>InterOptimus工作流LLM定义实现</vt:lpstr>
      <vt:lpstr>IO workflow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欧美风画册</dc:title>
  <dc:creator>赵飞</dc:creator>
  <cp:lastModifiedBy>HJ3869</cp:lastModifiedBy>
  <cp:revision>377</cp:revision>
  <dcterms:created xsi:type="dcterms:W3CDTF">2017-05-07T03:43:00Z</dcterms:created>
  <dcterms:modified xsi:type="dcterms:W3CDTF">2026-01-22T09:53:24Z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7DF7077DA04C454C85A00DB2BE863D69_13</vt:lpwstr>
  </property>
</Properties>
</file>